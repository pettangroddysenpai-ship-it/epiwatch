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201168" cy="246888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2148840"/>
            <a:ext cx="868680" cy="868680"/>
          </a:xfrm>
          <a:prstGeom prst="ellipse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34440" y="2331720"/>
            <a:ext cx="237744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6424" y="2459736"/>
            <a:ext cx="50292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2212848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Segoe UI"/>
              </a:rPr>
              <a:t>ÉpiWatch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0632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B6C2D4"/>
                </a:solidFill>
                <a:latin typeface="Segoe UI"/>
              </a:rPr>
              <a:t>Plateforme de surveillance sanitaire et d'alerte épidémiologique en temps réel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3977639"/>
            <a:ext cx="3291840" cy="4572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20624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60A5FA"/>
                </a:solidFill>
                <a:latin typeface="Segoe UI"/>
              </a:rPr>
              <a:t>Concours INNOVA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B6C2D4"/>
                </a:solidFill>
                <a:latin typeface="Segoe UI"/>
              </a:rPr>
              <a:t>Prototype fonctionnel · 30 hôpitaux · 5 maladies · 7 niveaux d'alerte</a:t>
            </a:r>
          </a:p>
        </p:txBody>
      </p:sp>
      <p:sp>
        <p:nvSpPr>
          <p:cNvPr id="11" name="Oval 10"/>
          <p:cNvSpPr/>
          <p:nvPr/>
        </p:nvSpPr>
        <p:spPr>
          <a:xfrm>
            <a:off x="10607040" y="1005840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09960" y="1234440"/>
            <a:ext cx="365760" cy="365760"/>
          </a:xfrm>
          <a:prstGeom prst="ellipse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27080" y="1600200"/>
            <a:ext cx="411480" cy="41148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47120" y="1874519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835640" y="2148840"/>
            <a:ext cx="384048" cy="384048"/>
          </a:xfrm>
          <a:prstGeom prst="ellipse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6C2D4"/>
                </a:solidFill>
                <a:latin typeface="Segoe UI"/>
              </a:rPr>
              <a:t>ÉpiWatch  ·  Surveillance épidémiologique en temps réel  ·  INNOVA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6C2D4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0A5FA"/>
                </a:solidFill>
                <a:latin typeface="Segoe UI"/>
              </a:rPr>
              <a:t>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Pourquoi ÉpiWatch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Segoe UI"/>
              </a:rPr>
              <a:t>Les données de santé circulent lentement, restent cloisonnées par établissement, et les populations ne sont pas alertées à temps.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91840"/>
            <a:ext cx="33832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291840"/>
            <a:ext cx="3383280" cy="8229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70332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Information cloisonnée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B6C2D4"/>
                </a:solidFill>
                <a:latin typeface="Segoe UI"/>
              </a:rPr>
              <a:t>Chaque hôpital garde ses données pour lui.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291840"/>
            <a:ext cx="33832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3291840"/>
            <a:ext cx="3383280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370332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Détection tardive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B6C2D4"/>
                </a:solidFill>
                <a:latin typeface="Segoe UI"/>
              </a:rPr>
              <a:t>Une flambée n'est visible que trop tard.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291840"/>
            <a:ext cx="33832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3291840"/>
            <a:ext cx="3383280" cy="82296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370332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Population non informée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B6C2D4"/>
                </a:solidFill>
                <a:latin typeface="Segoe UI"/>
              </a:rPr>
              <a:t>Aucune alerte locale fiable et rapide.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6C2D4"/>
                </a:solidFill>
                <a:latin typeface="Segoe UI"/>
              </a:rPr>
              <a:t>ÉpiWatch  ·  Surveillance épidémiologique en temps réel  ·  INNOVA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6C2D4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0A5FA"/>
                </a:solidFill>
                <a:latin typeface="Segoe U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Ce que fait ÉpiWatch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60A5FA"/>
                </a:solidFill>
                <a:latin typeface="Segoe UI"/>
              </a:rPr>
              <a:t>ÉpiWatch centralise, détecte, visualise et alerte — en temps réel.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26080"/>
            <a:ext cx="251460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3200400"/>
            <a:ext cx="594360" cy="594360"/>
          </a:xfrm>
          <a:prstGeom prst="ellipse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27832"/>
            <a:ext cx="594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40"/>
            <a:ext cx="1965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Saisie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B6C2D4"/>
                </a:solidFill>
                <a:latin typeface="Segoe UI"/>
              </a:rPr>
              <a:t>L'agent enregistre les cas depuis l'hôpital.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2968" y="3840480"/>
            <a:ext cx="320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2E6BE6"/>
                </a:solidFill>
                <a:latin typeface="Segoe U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926080"/>
            <a:ext cx="251460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49040" y="3200400"/>
            <a:ext cx="594360" cy="594360"/>
          </a:xfrm>
          <a:prstGeom prst="ellipse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3227832"/>
            <a:ext cx="594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977640"/>
            <a:ext cx="1965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Centralisation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B6C2D4"/>
                </a:solidFill>
                <a:latin typeface="Segoe UI"/>
              </a:rPr>
              <a:t>Toutes les données dans une base commune.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7608" y="3840480"/>
            <a:ext cx="320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2E6BE6"/>
                </a:solidFill>
                <a:latin typeface="Segoe U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926080"/>
            <a:ext cx="251460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83680" y="3200400"/>
            <a:ext cx="594360" cy="594360"/>
          </a:xfrm>
          <a:prstGeom prst="ellipse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227832"/>
            <a:ext cx="594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977640"/>
            <a:ext cx="1965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Analyse &amp; carte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B6C2D4"/>
                </a:solidFill>
                <a:latin typeface="Segoe UI"/>
              </a:rPr>
              <a:t>Le niveau d'alerte s'affiche sur la carte.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2248" y="3840480"/>
            <a:ext cx="320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2E6BE6"/>
                </a:solidFill>
                <a:latin typeface="Segoe U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926080"/>
            <a:ext cx="2514600" cy="24688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18320" y="3200400"/>
            <a:ext cx="594360" cy="594360"/>
          </a:xfrm>
          <a:prstGeom prst="ellipse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3227832"/>
            <a:ext cx="594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977640"/>
            <a:ext cx="1965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Alerte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B6C2D4"/>
                </a:solidFill>
                <a:latin typeface="Segoe UI"/>
              </a:rPr>
              <a:t>Responsables et population sont prévenus.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6C2D4"/>
                </a:solidFill>
                <a:latin typeface="Segoe UI"/>
              </a:rPr>
              <a:t>ÉpiWatch  ·  Surveillance épidémiologique en temps réel  ·  INNOVA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6C2D4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0A5FA"/>
                </a:solidFill>
                <a:latin typeface="Segoe UI"/>
              </a:rPr>
              <a:t>NIVEAUX D'ALERTE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Sept niveaux, une action pour chacun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5669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28016" cy="5669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56815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59"/>
            <a:ext cx="402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99339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Bleu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79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6C2D4"/>
                </a:solidFill>
                <a:latin typeface="Segoe UI"/>
              </a:rPr>
              <a:t>Surveillance habituelle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14599"/>
            <a:ext cx="10881360" cy="5669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514599"/>
            <a:ext cx="128016" cy="5669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2596895"/>
            <a:ext cx="402336" cy="40233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606039"/>
            <a:ext cx="402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63347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Vert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51759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6C2D4"/>
                </a:solidFill>
                <a:latin typeface="Segoe UI"/>
              </a:rPr>
              <a:t>Situation stable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154679"/>
            <a:ext cx="10881360" cy="5669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154679"/>
            <a:ext cx="128016" cy="566928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3236975"/>
            <a:ext cx="402336" cy="402336"/>
          </a:xfrm>
          <a:prstGeom prst="ellipse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246119"/>
            <a:ext cx="402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27355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Jaune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291839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6C2D4"/>
                </a:solidFill>
                <a:latin typeface="Segoe UI"/>
              </a:rPr>
              <a:t>Signal à surveiller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794759"/>
            <a:ext cx="10881360" cy="5669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794759"/>
            <a:ext cx="128016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3877055"/>
            <a:ext cx="402336" cy="40233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886199"/>
            <a:ext cx="402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91363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Orange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931919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6C2D4"/>
                </a:solidFill>
                <a:latin typeface="Segoe UI"/>
              </a:rPr>
              <a:t>Hausse préoccupante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34839"/>
            <a:ext cx="10881360" cy="5669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434839"/>
            <a:ext cx="128016" cy="56692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5840" y="4517135"/>
            <a:ext cx="402336" cy="402336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526279"/>
            <a:ext cx="402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455371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Rouge léger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571999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6C2D4"/>
                </a:solidFill>
                <a:latin typeface="Segoe UI"/>
              </a:rPr>
              <a:t>Alerte élevée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074919"/>
            <a:ext cx="10881360" cy="5669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" y="5074919"/>
            <a:ext cx="128016" cy="56692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5840" y="5157215"/>
            <a:ext cx="402336" cy="402336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166359"/>
            <a:ext cx="402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45920" y="519379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Rouge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212079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6C2D4"/>
                </a:solidFill>
                <a:latin typeface="Segoe UI"/>
              </a:rPr>
              <a:t>Situation critique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714999"/>
            <a:ext cx="10881360" cy="5669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" y="5714999"/>
            <a:ext cx="128016" cy="566928"/>
          </a:xfrm>
          <a:prstGeom prst="rect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05840" y="5797295"/>
            <a:ext cx="402336" cy="402336"/>
          </a:xfrm>
          <a:prstGeom prst="ellipse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806439"/>
            <a:ext cx="402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583387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Rouge foncé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5852159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6C2D4"/>
                </a:solidFill>
                <a:latin typeface="Segoe UI"/>
              </a:rPr>
              <a:t>Alerte majeure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6C2D4"/>
                </a:solidFill>
                <a:latin typeface="Segoe UI"/>
              </a:rPr>
              <a:t>ÉpiWatch  ·  Surveillance épidémiologique en temps réel  ·  INNOVA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6C2D4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0A5FA"/>
                </a:solidFill>
                <a:latin typeface="Segoe UI"/>
              </a:rPr>
              <a:t>ESCALADE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De l'hôpital à la région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200400" cy="26517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3200400" cy="109728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2E6BE6"/>
                </a:solidFill>
                <a:latin typeface="Segoe UI"/>
              </a:rPr>
              <a:t>HÔPITAL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B6C2D4"/>
                </a:solidFill>
                <a:latin typeface="Segoe UI"/>
              </a:rPr>
              <a:t>Un hôpital franchit un seuil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2519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Alerte locale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32918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2E6BE6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286000"/>
            <a:ext cx="3200400" cy="26517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2286000"/>
            <a:ext cx="3200400" cy="1097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274320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97316"/>
                </a:solidFill>
                <a:latin typeface="Segoe UI"/>
              </a:rPr>
              <a:t>DISTRICT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B6C2D4"/>
                </a:solidFill>
                <a:latin typeface="Segoe UI"/>
              </a:rPr>
              <a:t>≥ 2 hôpitaux au niveau 5+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42519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Alerte de district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2918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2E6BE6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2286000"/>
            <a:ext cx="3200400" cy="26517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03920" y="2286000"/>
            <a:ext cx="3200400" cy="109728"/>
          </a:xfrm>
          <a:prstGeom prst="rect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274320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7F1D1D"/>
                </a:solidFill>
                <a:latin typeface="Segoe UI"/>
              </a:rPr>
              <a:t>RÉGION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333756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B6C2D4"/>
                </a:solidFill>
                <a:latin typeface="Segoe UI"/>
              </a:rPr>
              <a:t>≥ 5 hôpitaux au niveau 5+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42519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Alerte régionale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0A5FA"/>
                </a:solidFill>
                <a:latin typeface="Segoe UI"/>
              </a:rPr>
              <a:t>Règles entièrement configurables · comptage des établissements distincts · escalade immédiate au niveau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6C2D4"/>
                </a:solidFill>
                <a:latin typeface="Segoe UI"/>
              </a:rPr>
              <a:t>ÉpiWatch  ·  Surveillance épidémiologique en temps réel  ·  INNOVA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6C2D4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0A5FA"/>
                </a:solidFill>
                <a:latin typeface="Segoe UI"/>
              </a:rPr>
              <a:t>FONCTIONNALITÉS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Quatre interfaces, une PWA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651760" cy="3931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2651760" cy="82296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Tableau de bord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21031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90000"/>
              </a:lnSpc>
            </a:pPr>
            <a:r>
              <a:rPr sz="1400" b="0">
                <a:solidFill>
                  <a:srgbClr val="B6C2D4"/>
                </a:solidFill>
                <a:latin typeface="Segoe UI"/>
              </a:rPr>
              <a:t>•  Indicateurs clés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B6C2D4"/>
                </a:solidFill>
                <a:latin typeface="Segoe UI"/>
              </a:rPr>
              <a:t>•  Graphiques d'évolution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B6C2D4"/>
                </a:solidFill>
                <a:latin typeface="Segoe UI"/>
              </a:rPr>
              <a:t>•  Rapports &amp; export 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93592" y="1920240"/>
            <a:ext cx="2651760" cy="3931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93592" y="1920240"/>
            <a:ext cx="2651760" cy="8229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2" y="210312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Carte interactive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7912" y="3017520"/>
            <a:ext cx="21031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90000"/>
              </a:lnSpc>
            </a:pPr>
            <a:r>
              <a:rPr sz="1400" b="0">
                <a:solidFill>
                  <a:srgbClr val="B6C2D4"/>
                </a:solidFill>
                <a:latin typeface="Segoe UI"/>
              </a:rPr>
              <a:t>•  30 hôpitaux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B6C2D4"/>
                </a:solidFill>
                <a:latin typeface="Segoe UI"/>
              </a:rPr>
              <a:t>•  Marqueurs par niveau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B6C2D4"/>
                </a:solidFill>
                <a:latin typeface="Segoe UI"/>
              </a:rPr>
              <a:t>•  Filtres &amp; légende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47104" y="1920240"/>
            <a:ext cx="2651760" cy="3931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47104" y="1920240"/>
            <a:ext cx="265176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75704" y="210312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Saisie hospitalière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3017520"/>
            <a:ext cx="21031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90000"/>
              </a:lnSpc>
            </a:pPr>
            <a:r>
              <a:rPr sz="1400" b="0">
                <a:solidFill>
                  <a:srgbClr val="B6C2D4"/>
                </a:solidFill>
                <a:latin typeface="Segoe UI"/>
              </a:rPr>
              <a:t>•  Enregistrement rapide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B6C2D4"/>
                </a:solidFill>
                <a:latin typeface="Segoe UI"/>
              </a:rPr>
              <a:t>•  Correction tracée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B6C2D4"/>
                </a:solidFill>
                <a:latin typeface="Segoe UI"/>
              </a:rPr>
              <a:t>•  Historique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0616" y="1920240"/>
            <a:ext cx="2651760" cy="3931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00616" y="1920240"/>
            <a:ext cx="2651760" cy="8229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29216" y="210312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Alertes &amp; notifications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4936" y="3017520"/>
            <a:ext cx="21031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90000"/>
              </a:lnSpc>
            </a:pPr>
            <a:r>
              <a:rPr sz="1400" b="0">
                <a:solidFill>
                  <a:srgbClr val="B6C2D4"/>
                </a:solidFill>
                <a:latin typeface="Segoe UI"/>
              </a:rPr>
              <a:t>•  Temps réel (SSE)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B6C2D4"/>
                </a:solidFill>
                <a:latin typeface="Segoe UI"/>
              </a:rPr>
              <a:t>•  Zones suivies</a:t>
            </a:r>
          </a:p>
          <a:p>
            <a:pPr algn="l">
              <a:lnSpc>
                <a:spcPct val="190000"/>
              </a:lnSpc>
            </a:pPr>
            <a:r>
              <a:rPr sz="1400" b="0">
                <a:solidFill>
                  <a:srgbClr val="B6C2D4"/>
                </a:solidFill>
                <a:latin typeface="Segoe UI"/>
              </a:rPr>
              <a:t>•  Conseils de prévention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6C2D4"/>
                </a:solidFill>
                <a:latin typeface="Segoe UI"/>
              </a:rPr>
              <a:t>ÉpiWatch  ·  Surveillance épidémiologique en temps réel  ·  INNOVA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6C2D4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0A5FA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Une pile simple et robuste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881360" cy="1051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305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0A5FA"/>
                </a:solidFill>
                <a:latin typeface="Segoe UI"/>
              </a:rPr>
              <a:t>CLIENTS  —  PWA 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B6C2D4"/>
                </a:solidFill>
                <a:latin typeface="Segoe UI"/>
              </a:rPr>
              <a:t>Desktop (saisie)  ·  Mobile (alertes)  ·  Tablette     |     React 18 · Vite · Leaflet · Recharts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06324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E6BE6"/>
                </a:solidFill>
                <a:latin typeface="Segoe UI"/>
              </a:rPr>
              <a:t>REST + SSE 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66160"/>
            <a:ext cx="10881360" cy="1051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307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0A5FA"/>
                </a:solidFill>
                <a:latin typeface="Segoe UI"/>
              </a:rPr>
              <a:t>SERVEUR  —  Node.js + Express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B6C2D4"/>
                </a:solidFill>
                <a:latin typeface="Segoe UI"/>
              </a:rPr>
              <a:t>Authentification · API REST · Moteur d'alertes · Bus temps réel (SSE) · Service des fichiers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66344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E6BE6"/>
                </a:solidFill>
                <a:latin typeface="Segoe UI"/>
              </a:rPr>
              <a:t>node:sqlite 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166360"/>
            <a:ext cx="1088136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7608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0A5FA"/>
                </a:solidFill>
                <a:latin typeface="Segoe UI"/>
              </a:rPr>
              <a:t>BASE  —  SQLite embarquée (WAL)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052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B6C2D4"/>
                </a:solidFill>
                <a:latin typeface="Segoe UI"/>
              </a:rPr>
              <a:t>10 tables · fichier unique · aucune dépendance native · portable &amp; hors-ligne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6C2D4"/>
                </a:solidFill>
                <a:latin typeface="Segoe UI"/>
              </a:rPr>
              <a:t>ÉpiWatch  ·  Surveillance épidémiologique en temps réel  ·  INNOVA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6C2D4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0A5FA"/>
                </a:solidFill>
                <a:latin typeface="Segoe UI"/>
              </a:rPr>
              <a:t>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Conçu pour la confiance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349240" cy="1234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09728" cy="123444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Rôles (RBAC)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78608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B6C2D4"/>
                </a:solidFill>
                <a:latin typeface="Segoe UI"/>
              </a:rPr>
              <a:t>5 rôles : agent, responsable, autorité, admin, public.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20240"/>
            <a:ext cx="5349240" cy="1234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920240"/>
            <a:ext cx="109728" cy="123444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1031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Cloisonnement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578608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B6C2D4"/>
                </a:solidFill>
                <a:latin typeface="Segoe UI"/>
              </a:rPr>
              <a:t>Un agent ne saisit que pour son hôpital.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37560"/>
            <a:ext cx="5349240" cy="1234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337560"/>
            <a:ext cx="109728" cy="123444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2044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Mots de passe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995928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B6C2D4"/>
                </a:solidFill>
                <a:latin typeface="Segoe UI"/>
              </a:rPr>
              <a:t>Hachage scrypt + jetons signés HMAC.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337560"/>
            <a:ext cx="5349240" cy="1234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337560"/>
            <a:ext cx="109728" cy="123444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52044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Traçabilité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995928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B6C2D4"/>
                </a:solidFill>
                <a:latin typeface="Segoe UI"/>
              </a:rPr>
              <a:t>Journal d'audit de chaque action sensible.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754880"/>
            <a:ext cx="5349240" cy="1234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754880"/>
            <a:ext cx="109728" cy="123444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93776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Confidentialité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413248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B6C2D4"/>
                </a:solidFill>
                <a:latin typeface="Segoe UI"/>
              </a:rPr>
              <a:t>Comptages agrégés, aucune donnée personnelle.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754880"/>
            <a:ext cx="5349240" cy="1234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4754880"/>
            <a:ext cx="109728" cy="123444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493776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Hors-ligne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413248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B6C2D4"/>
                </a:solidFill>
                <a:latin typeface="Segoe UI"/>
              </a:rPr>
              <a:t>Fonctionne sur réseau local, sans Internet.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6C2D4"/>
                </a:solidFill>
                <a:latin typeface="Segoe UI"/>
              </a:rPr>
              <a:t>ÉpiWatch  ·  Surveillance épidémiologique en temps réel  ·  INNOVA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6C2D4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0A5FA"/>
                </a:solidFill>
                <a:latin typeface="Segoe UI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ÉpiWatch en chiffres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148840" cy="17373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2148840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1874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16A34A"/>
                </a:solidFill>
                <a:latin typeface="Segoe U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1874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B6C2D4"/>
                </a:solidFill>
                <a:latin typeface="Segoe UI"/>
              </a:rPr>
              <a:t>hôpitaux réels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4368" y="2011680"/>
            <a:ext cx="2148840" cy="17373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44368" y="2011680"/>
            <a:ext cx="2148840" cy="9144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1528" y="2423160"/>
            <a:ext cx="1874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2E6BE6"/>
                </a:solidFill>
                <a:latin typeface="Segoe U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3154680"/>
            <a:ext cx="1874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B6C2D4"/>
                </a:solidFill>
                <a:latin typeface="Segoe UI"/>
              </a:rPr>
              <a:t>maladies suivies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48656" y="2011680"/>
            <a:ext cx="2148840" cy="17373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48656" y="2011680"/>
            <a:ext cx="2148840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85816" y="2423160"/>
            <a:ext cx="1874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97316"/>
                </a:solidFill>
                <a:latin typeface="Segoe U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85816" y="3154680"/>
            <a:ext cx="1874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B6C2D4"/>
                </a:solidFill>
                <a:latin typeface="Segoe UI"/>
              </a:rPr>
              <a:t>niveaux d'alerte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52944" y="2011680"/>
            <a:ext cx="2148840" cy="17373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52944" y="2011680"/>
            <a:ext cx="2148840" cy="9144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0104" y="2423160"/>
            <a:ext cx="1874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EAB308"/>
                </a:solidFill>
                <a:latin typeface="Segoe UI"/>
              </a:rPr>
              <a:t>8 400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0104" y="3154680"/>
            <a:ext cx="1874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B6C2D4"/>
                </a:solidFill>
                <a:latin typeface="Segoe UI"/>
              </a:rPr>
              <a:t>déclarations de démo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57232" y="2011680"/>
            <a:ext cx="2148840" cy="17373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57232" y="2011680"/>
            <a:ext cx="2148840" cy="914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94392" y="2423160"/>
            <a:ext cx="1874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EF4444"/>
                </a:solidFill>
                <a:latin typeface="Segoe UI"/>
              </a:rPr>
              <a:t>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94392" y="3154680"/>
            <a:ext cx="1874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B6C2D4"/>
                </a:solidFill>
                <a:latin typeface="Segoe UI"/>
              </a:rPr>
              <a:t>tests validés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0624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60A5FA"/>
                </a:solidFill>
                <a:latin typeface="Segoe UI"/>
              </a:rPr>
              <a:t>Scénario de démonstration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B6C2D4"/>
                </a:solidFill>
                <a:latin typeface="Segoe UI"/>
              </a:rPr>
              <a:t>Saisie d'un cas  →  hausse du marqueur  →  alerte locale  →  escalade district puis région  →  notification sur le téléphone citoyen.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6C2D4"/>
                </a:solidFill>
                <a:latin typeface="Segoe UI"/>
              </a:rPr>
              <a:t>ÉpiWatch  ·  Surveillance épidémiologique en temps réel  ·  INNOVA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6C2D4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1031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Un prototype qui fonctionne réellement,</a:t>
            </a:r>
          </a:p>
          <a:p>
            <a:pPr algn="ctr">
              <a:lnSpc>
                <a:spcPct val="110000"/>
              </a:lnSpc>
            </a:pPr>
            <a:r>
              <a:rPr sz="3200" b="1">
                <a:solidFill>
                  <a:srgbClr val="60A5FA"/>
                </a:solidFill>
                <a:latin typeface="Segoe UI"/>
              </a:rPr>
              <a:t>pas une simple maquette.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0" y="3931920"/>
            <a:ext cx="1920240" cy="4572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29768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2200" b="0">
                <a:solidFill>
                  <a:srgbClr val="B6C2D4"/>
                </a:solidFill>
                <a:latin typeface="Segoe UI"/>
              </a:rPr>
              <a:t>Merci de votre attention</a:t>
            </a:r>
          </a:p>
          <a:p>
            <a:pPr algn="ctr">
              <a:lnSpc>
                <a:spcPct val="150000"/>
              </a:lnSpc>
            </a:pPr>
            <a:r>
              <a:rPr sz="1600" b="0">
                <a:solidFill>
                  <a:srgbClr val="60A5FA"/>
                </a:solidFill>
                <a:latin typeface="Segoe UI"/>
              </a:rPr>
              <a:t>ÉpiWatch  ·  Concours INNOVA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6C2D4"/>
                </a:solidFill>
                <a:latin typeface="Segoe UI"/>
              </a:rPr>
              <a:t>ÉpiWatch  ·  Surveillance épidémiologique en temps réel  ·  INNOVA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6C2D4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